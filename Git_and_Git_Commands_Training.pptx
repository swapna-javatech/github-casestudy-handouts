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 Explain Learning Objectives with live Git demonstrations.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 Explain What is Git? with live Git demonstrations.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 Explain Git Architecture with live Git demonstrations.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 Explain Git Installation &amp; Configuration with live Git demonstrations.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 Explain Creating Repositories with live Git demonstrations.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 Explain Git Workflow with live Git demonstrations.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 Explain Essential Git Commands with live Git demonstrations.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 Explain Branching &amp; Merging with live Git demonstrations.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 Explain Remote Repository Commands with live Git demonstrations.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 Explain Undo &amp; Recovery with live Git demonstrations.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 Explain Merge Conflicts with live Git demonstrations.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 Explain Git Best Practices with live Git demonstrations.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 Explain Git Cheat Sheet with live Git demonstrations.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 Explain Hands-on Lab with live Git demonstrations.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 Explain Interview Questions with live Git demonstrations.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Git &amp; Git Commands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Corporate Technical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Understand Git basics</a:t>
            </a:r>
          </a:p>
          <a:p>
            <a:pPr>
              <a:defRPr sz="2000"/>
            </a:pPr>
            <a:r>
              <a:t>Learn daily Git commands</a:t>
            </a:r>
          </a:p>
          <a:p>
            <a:pPr>
              <a:defRPr sz="2000"/>
            </a:pPr>
            <a:r>
              <a:t>Follow Git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Distributed Version Control System</a:t>
            </a:r>
          </a:p>
          <a:p>
            <a:pPr>
              <a:defRPr sz="2000"/>
            </a:pPr>
            <a:r>
              <a:t>Tracks source code changes</a:t>
            </a:r>
          </a:p>
          <a:p>
            <a:pPr>
              <a:defRPr sz="2000"/>
            </a:pPr>
            <a:r>
              <a:t>Supports collaboration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448056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Working Dir</a:t>
            </a:r>
          </a:p>
        </p:txBody>
      </p:sp>
      <p:sp>
        <p:nvSpPr>
          <p:cNvPr id="5" name="Chevron 4"/>
          <p:cNvSpPr/>
          <p:nvPr/>
        </p:nvSpPr>
        <p:spPr>
          <a:xfrm>
            <a:off x="1188720" y="4526280"/>
            <a:ext cx="164592" cy="347472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448056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Staging</a:t>
            </a:r>
          </a:p>
        </p:txBody>
      </p:sp>
      <p:sp>
        <p:nvSpPr>
          <p:cNvPr id="7" name="Chevron 6"/>
          <p:cNvSpPr/>
          <p:nvPr/>
        </p:nvSpPr>
        <p:spPr>
          <a:xfrm>
            <a:off x="2286000" y="4526280"/>
            <a:ext cx="164592" cy="347472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68879" y="448056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Repository</a:t>
            </a:r>
          </a:p>
        </p:txBody>
      </p:sp>
      <p:sp>
        <p:nvSpPr>
          <p:cNvPr id="9" name="Chevron 8"/>
          <p:cNvSpPr/>
          <p:nvPr/>
        </p:nvSpPr>
        <p:spPr>
          <a:xfrm>
            <a:off x="3383280" y="4526280"/>
            <a:ext cx="164592" cy="347472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59" y="448056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Remote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Working Directory</a:t>
            </a:r>
          </a:p>
          <a:p>
            <a:pPr>
              <a:defRPr sz="2000"/>
            </a:pPr>
            <a:r>
              <a:t>Staging Area</a:t>
            </a:r>
          </a:p>
          <a:p>
            <a:pPr>
              <a:defRPr sz="2000"/>
            </a:pPr>
            <a:r>
              <a:t>Local Repository</a:t>
            </a:r>
          </a:p>
          <a:p>
            <a:pPr>
              <a:defRPr sz="2000"/>
            </a:pPr>
            <a:r>
              <a:t>Remote Repository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448056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Edit</a:t>
            </a:r>
          </a:p>
        </p:txBody>
      </p:sp>
      <p:sp>
        <p:nvSpPr>
          <p:cNvPr id="5" name="Chevron 4"/>
          <p:cNvSpPr/>
          <p:nvPr/>
        </p:nvSpPr>
        <p:spPr>
          <a:xfrm>
            <a:off x="1188720" y="4526280"/>
            <a:ext cx="164592" cy="347472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448056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git add</a:t>
            </a:r>
          </a:p>
        </p:txBody>
      </p:sp>
      <p:sp>
        <p:nvSpPr>
          <p:cNvPr id="7" name="Chevron 6"/>
          <p:cNvSpPr/>
          <p:nvPr/>
        </p:nvSpPr>
        <p:spPr>
          <a:xfrm>
            <a:off x="2286000" y="4526280"/>
            <a:ext cx="164592" cy="347472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68879" y="448056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git commit</a:t>
            </a:r>
          </a:p>
        </p:txBody>
      </p:sp>
      <p:sp>
        <p:nvSpPr>
          <p:cNvPr id="9" name="Chevron 8"/>
          <p:cNvSpPr/>
          <p:nvPr/>
        </p:nvSpPr>
        <p:spPr>
          <a:xfrm>
            <a:off x="3383280" y="4526280"/>
            <a:ext cx="164592" cy="347472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59" y="448056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git push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Installation &amp;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Install Git</a:t>
            </a:r>
          </a:p>
          <a:p>
            <a:pPr>
              <a:defRPr sz="2000"/>
            </a:pPr>
            <a:r>
              <a:t>git --version</a:t>
            </a:r>
          </a:p>
          <a:p>
            <a:pPr>
              <a:defRPr sz="2000"/>
            </a:pPr>
            <a:r>
              <a:t>git config --global user.name</a:t>
            </a:r>
          </a:p>
          <a:p>
            <a:pPr>
              <a:defRPr sz="2000"/>
            </a:pPr>
            <a:r>
              <a:t>git config --global user.email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Repositories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git init</a:t>
            </a:r>
          </a:p>
          <a:p>
            <a:pPr>
              <a:defRPr sz="2000"/>
            </a:pPr>
            <a:r>
              <a:t>git clone &lt;url&gt;</a:t>
            </a:r>
          </a:p>
          <a:p>
            <a:pPr>
              <a:defRPr sz="2000"/>
            </a:pPr>
            <a:r>
              <a:t>Initialize or clone projects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448056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Init</a:t>
            </a:r>
          </a:p>
        </p:txBody>
      </p:sp>
      <p:sp>
        <p:nvSpPr>
          <p:cNvPr id="5" name="Chevron 4"/>
          <p:cNvSpPr/>
          <p:nvPr/>
        </p:nvSpPr>
        <p:spPr>
          <a:xfrm>
            <a:off x="1188720" y="4526280"/>
            <a:ext cx="164592" cy="347472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448056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Clone</a:t>
            </a:r>
          </a:p>
        </p:txBody>
      </p:sp>
      <p:sp>
        <p:nvSpPr>
          <p:cNvPr id="7" name="Chevron 6"/>
          <p:cNvSpPr/>
          <p:nvPr/>
        </p:nvSpPr>
        <p:spPr>
          <a:xfrm>
            <a:off x="2286000" y="4526280"/>
            <a:ext cx="164592" cy="347472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68879" y="448056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Edit → Add → Commit → Push → Pull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448056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Edit</a:t>
            </a:r>
          </a:p>
        </p:txBody>
      </p:sp>
      <p:sp>
        <p:nvSpPr>
          <p:cNvPr id="5" name="Chevron 4"/>
          <p:cNvSpPr/>
          <p:nvPr/>
        </p:nvSpPr>
        <p:spPr>
          <a:xfrm>
            <a:off x="1188720" y="4526280"/>
            <a:ext cx="164592" cy="347472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448056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Add</a:t>
            </a:r>
          </a:p>
        </p:txBody>
      </p:sp>
      <p:sp>
        <p:nvSpPr>
          <p:cNvPr id="7" name="Chevron 6"/>
          <p:cNvSpPr/>
          <p:nvPr/>
        </p:nvSpPr>
        <p:spPr>
          <a:xfrm>
            <a:off x="2286000" y="4526280"/>
            <a:ext cx="164592" cy="347472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68879" y="448056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Commit</a:t>
            </a:r>
          </a:p>
        </p:txBody>
      </p:sp>
      <p:sp>
        <p:nvSpPr>
          <p:cNvPr id="9" name="Chevron 8"/>
          <p:cNvSpPr/>
          <p:nvPr/>
        </p:nvSpPr>
        <p:spPr>
          <a:xfrm>
            <a:off x="3383280" y="4526280"/>
            <a:ext cx="164592" cy="347472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59" y="448056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Push</a:t>
            </a:r>
          </a:p>
        </p:txBody>
      </p:sp>
      <p:sp>
        <p:nvSpPr>
          <p:cNvPr id="11" name="Chevron 10"/>
          <p:cNvSpPr/>
          <p:nvPr/>
        </p:nvSpPr>
        <p:spPr>
          <a:xfrm>
            <a:off x="4480559" y="4526280"/>
            <a:ext cx="164592" cy="347472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63440" y="448056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Pull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Essential Git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git status</a:t>
            </a:r>
          </a:p>
          <a:p>
            <a:pPr>
              <a:defRPr sz="2000"/>
            </a:pPr>
            <a:r>
              <a:t>git add .</a:t>
            </a:r>
          </a:p>
          <a:p>
            <a:pPr>
              <a:defRPr sz="2000"/>
            </a:pPr>
            <a:r>
              <a:t>git commit -m "message"</a:t>
            </a:r>
          </a:p>
          <a:p>
            <a:pPr>
              <a:defRPr sz="2000"/>
            </a:pPr>
            <a:r>
              <a:t>git log</a:t>
            </a:r>
          </a:p>
          <a:p>
            <a:pPr>
              <a:defRPr sz="2000"/>
            </a:pPr>
            <a:r>
              <a:t>git diff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Branching &amp; Merging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git branch</a:t>
            </a:r>
          </a:p>
          <a:p>
            <a:pPr>
              <a:defRPr sz="2000"/>
            </a:pPr>
            <a:r>
              <a:t>git checkout -b feature</a:t>
            </a:r>
          </a:p>
          <a:p>
            <a:pPr>
              <a:defRPr sz="2000"/>
            </a:pPr>
            <a:r>
              <a:t>git merge</a:t>
            </a:r>
          </a:p>
          <a:p>
            <a:pPr>
              <a:defRPr sz="2000"/>
            </a:pPr>
            <a:r>
              <a:t>git switch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448056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main</a:t>
            </a:r>
          </a:p>
        </p:txBody>
      </p:sp>
      <p:sp>
        <p:nvSpPr>
          <p:cNvPr id="5" name="Chevron 4"/>
          <p:cNvSpPr/>
          <p:nvPr/>
        </p:nvSpPr>
        <p:spPr>
          <a:xfrm>
            <a:off x="1188720" y="4526280"/>
            <a:ext cx="164592" cy="347472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448056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feature</a:t>
            </a:r>
          </a:p>
        </p:txBody>
      </p:sp>
      <p:sp>
        <p:nvSpPr>
          <p:cNvPr id="7" name="Chevron 6"/>
          <p:cNvSpPr/>
          <p:nvPr/>
        </p:nvSpPr>
        <p:spPr>
          <a:xfrm>
            <a:off x="2286000" y="4526280"/>
            <a:ext cx="164592" cy="347472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68879" y="448056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merge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Remote Repository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git remote -v</a:t>
            </a:r>
          </a:p>
          <a:p>
            <a:pPr>
              <a:defRPr sz="2000"/>
            </a:pPr>
            <a:r>
              <a:t>git fetch</a:t>
            </a:r>
          </a:p>
          <a:p>
            <a:pPr>
              <a:defRPr sz="2000"/>
            </a:pPr>
            <a:r>
              <a:t>git pull</a:t>
            </a:r>
          </a:p>
          <a:p>
            <a:pPr>
              <a:defRPr sz="2000"/>
            </a:pPr>
            <a:r>
              <a:t>git push origin main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448056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Remote</a:t>
            </a:r>
          </a:p>
        </p:txBody>
      </p:sp>
      <p:sp>
        <p:nvSpPr>
          <p:cNvPr id="5" name="Chevron 4"/>
          <p:cNvSpPr/>
          <p:nvPr/>
        </p:nvSpPr>
        <p:spPr>
          <a:xfrm>
            <a:off x="1188720" y="4526280"/>
            <a:ext cx="164592" cy="347472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448056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Fetch</a:t>
            </a:r>
          </a:p>
        </p:txBody>
      </p:sp>
      <p:sp>
        <p:nvSpPr>
          <p:cNvPr id="7" name="Chevron 6"/>
          <p:cNvSpPr/>
          <p:nvPr/>
        </p:nvSpPr>
        <p:spPr>
          <a:xfrm>
            <a:off x="2286000" y="4526280"/>
            <a:ext cx="164592" cy="347472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68879" y="448056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Pull</a:t>
            </a:r>
          </a:p>
        </p:txBody>
      </p:sp>
      <p:sp>
        <p:nvSpPr>
          <p:cNvPr id="9" name="Chevron 8"/>
          <p:cNvSpPr/>
          <p:nvPr/>
        </p:nvSpPr>
        <p:spPr>
          <a:xfrm>
            <a:off x="3383280" y="4526280"/>
            <a:ext cx="164592" cy="347472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59" y="448056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Push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Undo &amp; Recovery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git restore</a:t>
            </a:r>
          </a:p>
          <a:p>
            <a:pPr>
              <a:defRPr sz="2000"/>
            </a:pPr>
            <a:r>
              <a:t>git reset</a:t>
            </a:r>
          </a:p>
          <a:p>
            <a:pPr>
              <a:defRPr sz="2000"/>
            </a:pPr>
            <a:r>
              <a:t>git revert</a:t>
            </a:r>
          </a:p>
          <a:p>
            <a:pPr>
              <a:defRPr sz="2000"/>
            </a:pPr>
            <a:r>
              <a:t>git stash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Merge Conflicts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Identify conflict markers</a:t>
            </a:r>
          </a:p>
          <a:p>
            <a:pPr>
              <a:defRPr sz="2000"/>
            </a:pPr>
            <a:r>
              <a:t>Resolve manually</a:t>
            </a:r>
          </a:p>
          <a:p>
            <a:pPr>
              <a:defRPr sz="2000"/>
            </a:pPr>
            <a:r>
              <a:t>Commit resolved changes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448056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Conflict</a:t>
            </a:r>
          </a:p>
        </p:txBody>
      </p:sp>
      <p:sp>
        <p:nvSpPr>
          <p:cNvPr id="5" name="Chevron 4"/>
          <p:cNvSpPr/>
          <p:nvPr/>
        </p:nvSpPr>
        <p:spPr>
          <a:xfrm>
            <a:off x="1188720" y="4526280"/>
            <a:ext cx="164592" cy="347472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448056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Resolve</a:t>
            </a:r>
          </a:p>
        </p:txBody>
      </p:sp>
      <p:sp>
        <p:nvSpPr>
          <p:cNvPr id="7" name="Chevron 6"/>
          <p:cNvSpPr/>
          <p:nvPr/>
        </p:nvSpPr>
        <p:spPr>
          <a:xfrm>
            <a:off x="2286000" y="4526280"/>
            <a:ext cx="164592" cy="347472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68879" y="4480560"/>
            <a:ext cx="9144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Commit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Commit often</a:t>
            </a:r>
          </a:p>
          <a:p>
            <a:pPr>
              <a:defRPr sz="2000"/>
            </a:pPr>
            <a:r>
              <a:t>Meaningful commit messages</a:t>
            </a:r>
          </a:p>
          <a:p>
            <a:pPr>
              <a:defRPr sz="2000"/>
            </a:pPr>
            <a:r>
              <a:t>Use feature branches</a:t>
            </a:r>
          </a:p>
          <a:p>
            <a:pPr>
              <a:defRPr sz="2000"/>
            </a:pPr>
            <a:r>
              <a:t>Pull before push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Cheat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status, add, commit, push, pull, clone, branch, checkout, merge, stash, log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Initialize repo</a:t>
            </a:r>
          </a:p>
          <a:p>
            <a:pPr>
              <a:defRPr sz="2000"/>
            </a:pPr>
            <a:r>
              <a:t>Create branch</a:t>
            </a:r>
          </a:p>
          <a:p>
            <a:pPr>
              <a:defRPr sz="2000"/>
            </a:pPr>
            <a:r>
              <a:t>Commit changes</a:t>
            </a:r>
          </a:p>
          <a:p>
            <a:pPr>
              <a:defRPr sz="2000"/>
            </a:pPr>
            <a:r>
              <a:t>Merge branch</a:t>
            </a:r>
          </a:p>
          <a:p>
            <a:pPr>
              <a:defRPr sz="2000"/>
            </a:pPr>
            <a:r>
              <a:t>Push to GitHub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What is Git?</a:t>
            </a:r>
          </a:p>
          <a:p>
            <a:pPr>
              <a:defRPr sz="2000"/>
            </a:pPr>
            <a:r>
              <a:t>Git vs GitHub</a:t>
            </a:r>
          </a:p>
          <a:p>
            <a:pPr>
              <a:defRPr sz="2000"/>
            </a:pPr>
            <a:r>
              <a:t>Rebase vs Merge</a:t>
            </a:r>
          </a:p>
          <a:p>
            <a:pPr>
              <a:defRPr sz="2000"/>
            </a:pPr>
            <a:r>
              <a:t>Reset vs Revert</a:t>
            </a:r>
          </a:p>
          <a:p>
            <a:pPr>
              <a:defRPr sz="2000"/>
            </a:pPr>
            <a:r>
              <a:t>Cherry-pick?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